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F4E79"/>
                </a:solidFill>
              </a:rPr>
              <a:t>Design the Interactions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258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>
                <a:solidFill>
                  <a:srgbClr val="334155"/>
                </a:solidFill>
              </a:rPr>
              <a:t>pm-substrate and the project-management layer for agentic workspaces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031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</a:rPr>
              <a:t>Repo thesis deck | June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43400"/>
            <a:ext cx="10881360" cy="100584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5994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The system is the strategy. The substrate is the PM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One-Sentence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Modern workspace failure is a shared-state problem.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AI agents make it urgent because they can act without knowing what is current, authoritative, or valid.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pm-substrate supplies the project-management layer between prediction and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Coordinate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The Workspace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Components are mature; interactions are brittle.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Each tool maintains a local model of work.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Humans become the manual integration layer.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AI bolt-ons multiply the number of local models unless state is governed.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Coordinate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Project Management Is State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PM maintains the operating reality of a project: goals, owners, blockers, risks, decisions, dependencies, and next valid actions.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That function is not just administrative. It is institutional state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Coordinate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What an Agent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Agent = bounded perception-action loop.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It observes partially, maintains a local model, proposes actions, acts, and receives feedback.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The agent-state problem is older than LLMs; LLMs expose it at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The LLM State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Weights are parametric state.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Prompts are inference state.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Memory/RAG is retrieval state.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None of these is automatically operational authority.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Represent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pm-substrate Design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No agent's local state is authoritative unless it is reconciled with substrate state.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Agents can propose. The substrate validates. Mutations happen only through governed transitions.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Core Primitives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Actors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Entities and relationships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Append-only events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Capabilities and policies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Workflow state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Evidence and projections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Commitments and continuity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Coordinate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Authority Promotion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Observation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Evidence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Proposed fact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Validated fact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Authoritative transition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Projection update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Continuity update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Proposal Review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Build current_state_view.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Capture read set and observation contract.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Validate freshness, authority, workflow position, projection version, conflicts, and subject.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Warn-first today; blocking gates next.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Represent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Evaluation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Failure classes: stale observation, source authority conflict, workflow invalidation, representation loss, memory drift, capability contract violation.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Evidence stages: scaffolded scenario, detected warning, blocked mutation, paired behavioral improvement.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Current Repo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@pm/agent-state contracts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ArrowHedge source records -&gt; typed events -&gt; COP -&gt; current-state view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Read-set and proposal review warnings</a:t>
            </a:r>
          </a:p>
          <a:p>
            <a:pPr>
              <a:spcAft>
                <a:spcPts val="800"/>
              </a:spcAft>
              <a:defRPr sz="1700">
                <a:solidFill>
                  <a:srgbClr val="232D37"/>
                </a:solidFill>
              </a:defRPr>
            </a:pPr>
            <a:r>
              <a:t>Eval maturity labels to avoid overclaiming proof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Strategic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A visible Common Operating Picture for humans and agents.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Validation gates for high-consequence workflows.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Continuity records that let agents resume from evidence rather than transcript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Coordinate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69848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F4E79"/>
                </a:solidFill>
              </a:rPr>
              <a:t>Closing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7589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pm-substrate is not a bigger memory for agents.</a:t>
            </a:r>
          </a:p>
          <a:p>
            <a:pPr>
              <a:spcAft>
                <a:spcPts val="800"/>
              </a:spcAft>
              <a:defRPr sz="1900">
                <a:solidFill>
                  <a:srgbClr val="232D37"/>
                </a:solidFill>
              </a:defRPr>
            </a:pPr>
            <a:r>
              <a:t>It is the missing state-estimation, authority, and project-management layer between statistical prediction and operational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2520" y="1444752"/>
            <a:ext cx="2697480" cy="4434840"/>
          </a:xfrm>
          <a:prstGeom prst="roundRect">
            <a:avLst/>
          </a:prstGeom>
          <a:solidFill>
            <a:srgbClr val="E8F2F9"/>
          </a:solidFill>
          <a:ln>
            <a:solidFill>
              <a:srgbClr val="9BBA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6840" y="3054096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F4E79"/>
                </a:solidFill>
              </a:rPr>
              <a:t>Coordinate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51206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</a:rPr>
              <a:t>JOAT Labs | pm-substrate 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44652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4748B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